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81E1E"/>
                </a:solidFill>
                <a:latin typeface="Microsoft YaHei"/>
              </a:defRPr>
            </a:pPr>
            <a:r>
              <a:t>OpenClaw Checkpoint 插件方案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0116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444444"/>
                </a:solidFill>
                <a:latin typeface="Microsoft YaHei"/>
              </a:defRPr>
            </a:pPr>
            <a:r>
              <a:t>基于 git commit-tree 的工作区快照与回滚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11338560" cy="27432"/>
          </a:xfrm>
          <a:prstGeom prst="rect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3611880" cy="53035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81E1E"/>
                </a:solidFill>
                <a:latin typeface="Microsoft YaHei"/>
              </a:defRPr>
            </a:pPr>
            <a:r>
              <a:t>一、插件集成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44444"/>
                </a:solidFill>
                <a:latin typeface="Microsoft YaHei"/>
              </a:defRPr>
            </a:pPr>
            <a:r>
              <a:t>注册方式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通过 OpenClaw 插件系统注册（extensions/checkpoint/）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条件加载：仅在 config.enabled === true 时注册</a:t>
            </a:r>
          </a:p>
          <a:p>
            <a:pPr>
              <a:spcBef>
                <a:spcPts val="300"/>
              </a:spcBef>
              <a:defRPr sz="600" b="0">
                <a:solidFill>
                  <a:srgbClr val="222222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200" b="1">
                <a:solidFill>
                  <a:srgbClr val="444444"/>
                </a:solidFill>
                <a:latin typeface="Microsoft YaHei"/>
              </a:defRPr>
            </a:pPr>
            <a:r>
              <a:t>三个注册点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1. Hooks —— 接入 agent 生命周期事件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    after_tool_call：工具调用完成后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    session_start：会话启动时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2. Tool —— 注册 Agent 可调用工具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    支持 list / create / restore 三个操作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3. HTTP Routes —— 注册可视化端点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    /plugins/checkpoint/ 提供时间线 UI</a:t>
            </a:r>
          </a:p>
          <a:p>
            <a:pPr>
              <a:spcBef>
                <a:spcPts val="300"/>
              </a:spcBef>
              <a:defRPr sz="600" b="0">
                <a:solidFill>
                  <a:srgbClr val="222222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200" b="1">
                <a:solidFill>
                  <a:srgbClr val="444444"/>
                </a:solidFill>
                <a:latin typeface="Microsoft YaHei"/>
              </a:defRPr>
            </a:pPr>
            <a:r>
              <a:t>上下文传递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WorkspaceResolver 在 Tool 上下文中缓存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workspaceDir，供 Hooks 回调使用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051560"/>
            <a:ext cx="3794760" cy="53035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143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81E1E"/>
                </a:solidFill>
                <a:latin typeface="Microsoft YaHei"/>
              </a:defRPr>
            </a:pPr>
            <a:r>
              <a:t>二、触发机制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5544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44444"/>
                </a:solidFill>
                <a:latin typeface="Microsoft YaHei"/>
              </a:defRPr>
            </a:pPr>
            <a:r>
              <a:t>触发模式（triggerOn 配置项）</a:t>
            </a:r>
          </a:p>
          <a:p>
            <a:pPr>
              <a:spcBef>
                <a:spcPts val="300"/>
              </a:spcBef>
              <a:defRPr sz="1200" b="1">
                <a:solidFill>
                  <a:srgbClr val="222222"/>
                </a:solidFill>
                <a:latin typeface="Microsoft YaHei"/>
              </a:defRPr>
            </a:pPr>
            <a:r>
              <a:t>mutating_tools（默认）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  仅在可能修改文件的工具调用后触发</a:t>
            </a:r>
          </a:p>
          <a:p>
            <a:pPr>
              <a:spcBef>
                <a:spcPts val="300"/>
              </a:spcBef>
              <a:defRPr sz="1200" b="1">
                <a:solidFill>
                  <a:srgbClr val="222222"/>
                </a:solidFill>
                <a:latin typeface="Microsoft YaHei"/>
              </a:defRPr>
            </a:pPr>
            <a:r>
              <a:t>all_tools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  每次工具调用后都触发</a:t>
            </a:r>
          </a:p>
          <a:p>
            <a:pPr>
              <a:spcBef>
                <a:spcPts val="300"/>
              </a:spcBef>
              <a:defRPr sz="1200" b="1">
                <a:solidFill>
                  <a:srgbClr val="222222"/>
                </a:solidFill>
                <a:latin typeface="Microsoft YaHei"/>
              </a:defRPr>
            </a:pPr>
            <a:r>
              <a:t>manual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  仅通过 Agent Tool 手动创建</a:t>
            </a:r>
          </a:p>
          <a:p>
            <a:pPr>
              <a:spcBef>
                <a:spcPts val="300"/>
              </a:spcBef>
              <a:defRPr sz="600" b="0">
                <a:solidFill>
                  <a:srgbClr val="222222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200" b="1">
                <a:solidFill>
                  <a:srgbClr val="444444"/>
                </a:solidFill>
                <a:latin typeface="Microsoft YaHei"/>
              </a:defRPr>
            </a:pPr>
            <a:r>
              <a:t>过滤逻辑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默认排除只读工具（不创建 checkpoint）：</a:t>
            </a:r>
          </a:p>
          <a:p>
            <a:pPr>
              <a:spcBef>
                <a:spcPts val="300"/>
              </a:spcBef>
              <a:defRPr sz="1200" b="0">
                <a:solidFill>
                  <a:srgbClr val="444444"/>
                </a:solidFill>
                <a:latin typeface="Microsoft YaHei"/>
              </a:defRPr>
            </a:pPr>
            <a:r>
              <a:t>  read, glob, grep, memory_search, memory_get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工具名大小写不敏感匹配</a:t>
            </a:r>
          </a:p>
          <a:p>
            <a:pPr>
              <a:spcBef>
                <a:spcPts val="300"/>
              </a:spcBef>
              <a:defRPr sz="600" b="0">
                <a:solidFill>
                  <a:srgbClr val="222222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200" b="1">
                <a:solidFill>
                  <a:srgbClr val="444444"/>
                </a:solidFill>
                <a:latin typeface="Microsoft YaHei"/>
              </a:defRPr>
            </a:pPr>
            <a:r>
              <a:t>容错设计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checkpoint 创建失败仅记录日志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不会中断 Agent 执行流程</a:t>
            </a:r>
          </a:p>
          <a:p>
            <a:pPr>
              <a:spcBef>
                <a:spcPts val="300"/>
              </a:spcBef>
              <a:defRPr sz="600" b="0">
                <a:solidFill>
                  <a:srgbClr val="222222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200" b="1">
                <a:solidFill>
                  <a:srgbClr val="444444"/>
                </a:solidFill>
                <a:latin typeface="Microsoft YaHei"/>
              </a:defRPr>
            </a:pPr>
            <a:r>
              <a:t>触发数据流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Hook 事件 → shouldCreateCheckpoint() 判断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→ engine.createCheckpoint() → Git 快照 + 持久化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051560"/>
            <a:ext cx="3703320" cy="53035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81E1E"/>
                </a:solidFill>
                <a:latin typeface="Microsoft YaHei"/>
              </a:defRPr>
            </a:pPr>
            <a:r>
              <a:t>三、保存机制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15544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44444"/>
                </a:solidFill>
                <a:latin typeface="Microsoft YaHei"/>
              </a:defRPr>
            </a:pPr>
            <a:r>
              <a:t>Git 层（文件快照）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git add -A             暂存所有变更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git write-tree         生成 tree 对象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git commit-tree -p ... 创建游离 commit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git reset              恢复索引状态</a:t>
            </a:r>
          </a:p>
          <a:p>
            <a:pPr>
              <a:spcBef>
                <a:spcPts val="300"/>
              </a:spcBef>
              <a:defRPr sz="1200" b="0">
                <a:solidFill>
                  <a:srgbClr val="444444"/>
                </a:solidFill>
                <a:latin typeface="Microsoft YaHei"/>
              </a:defRPr>
            </a:pPr>
            <a:r>
              <a:t>不影响 HEAD / 分支 / 工作流</a:t>
            </a:r>
          </a:p>
          <a:p>
            <a:pPr>
              <a:spcBef>
                <a:spcPts val="300"/>
              </a:spcBef>
              <a:defRPr sz="600" b="0">
                <a:solidFill>
                  <a:srgbClr val="222222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200" b="1">
                <a:solidFill>
                  <a:srgbClr val="444444"/>
                </a:solidFill>
                <a:latin typeface="Microsoft YaHei"/>
              </a:defRPr>
            </a:pPr>
            <a:r>
              <a:t>元数据层（文件系统）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存储路径：~/.openclaw/checkpoints/</a:t>
            </a:r>
          </a:p>
          <a:p>
            <a:pPr>
              <a:spcBef>
                <a:spcPts val="300"/>
              </a:spcBef>
              <a:defRPr sz="400" b="0">
                <a:solidFill>
                  <a:srgbClr val="222222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444444"/>
                </a:solidFill>
                <a:latin typeface="Microsoft YaHei"/>
              </a:defRPr>
            </a:pPr>
            <a:r>
              <a:t>&lt;storagePath&gt;/</a:t>
            </a:r>
          </a:p>
          <a:p>
            <a:pPr>
              <a:spcBef>
                <a:spcPts val="300"/>
              </a:spcBef>
              <a:defRPr sz="1100" b="0">
                <a:solidFill>
                  <a:srgbClr val="444444"/>
                </a:solidFill>
                <a:latin typeface="Microsoft YaHei"/>
              </a:defRPr>
            </a:pPr>
            <a:r>
              <a:t>  &lt;agentId&gt;/</a:t>
            </a:r>
          </a:p>
          <a:p>
            <a:pPr>
              <a:spcBef>
                <a:spcPts val="300"/>
              </a:spcBef>
              <a:defRPr sz="1100" b="0">
                <a:solidFill>
                  <a:srgbClr val="444444"/>
                </a:solidFill>
                <a:latin typeface="Microsoft YaHei"/>
              </a:defRPr>
            </a:pPr>
            <a:r>
              <a:t>    &lt;sessionId&gt;/</a:t>
            </a:r>
          </a:p>
          <a:p>
            <a:pPr>
              <a:spcBef>
                <a:spcPts val="300"/>
              </a:spcBef>
              <a:defRPr sz="1100" b="0">
                <a:solidFill>
                  <a:srgbClr val="444444"/>
                </a:solidFill>
                <a:latin typeface="Microsoft YaHei"/>
              </a:defRPr>
            </a:pPr>
            <a:r>
              <a:t>      manifest.json       有序列表+currentHead</a:t>
            </a:r>
          </a:p>
          <a:p>
            <a:pPr>
              <a:spcBef>
                <a:spcPts val="300"/>
              </a:spcBef>
              <a:defRPr sz="1100" b="0">
                <a:solidFill>
                  <a:srgbClr val="444444"/>
                </a:solidFill>
                <a:latin typeface="Microsoft YaHei"/>
              </a:defRPr>
            </a:pPr>
            <a:r>
              <a:t>      &lt;checkpointId&gt;/</a:t>
            </a:r>
          </a:p>
          <a:p>
            <a:pPr>
              <a:spcBef>
                <a:spcPts val="300"/>
              </a:spcBef>
              <a:defRPr sz="1100" b="0">
                <a:solidFill>
                  <a:srgbClr val="444444"/>
                </a:solidFill>
                <a:latin typeface="Microsoft YaHei"/>
              </a:defRPr>
            </a:pPr>
            <a:r>
              <a:t>        meta.json         完整元数据</a:t>
            </a:r>
          </a:p>
          <a:p>
            <a:pPr>
              <a:spcBef>
                <a:spcPts val="300"/>
              </a:spcBef>
              <a:defRPr sz="600" b="0">
                <a:solidFill>
                  <a:srgbClr val="222222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200" b="1">
                <a:solidFill>
                  <a:srgbClr val="444444"/>
                </a:solidFill>
                <a:latin typeface="Microsoft YaHei"/>
              </a:defRPr>
            </a:pPr>
            <a:r>
              <a:t>meta.json 包含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ID、触发信息、commitSha、treeSha、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变更文件列表、JSONL 字节偏移、时间戳</a:t>
            </a:r>
          </a:p>
          <a:p>
            <a:pPr>
              <a:spcBef>
                <a:spcPts val="300"/>
              </a:spcBef>
              <a:defRPr sz="600" b="0">
                <a:solidFill>
                  <a:srgbClr val="222222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200" b="1">
                <a:solidFill>
                  <a:srgbClr val="444444"/>
                </a:solidFill>
                <a:latin typeface="Microsoft YaHei"/>
              </a:defRPr>
            </a:pPr>
            <a:r>
              <a:t>清理策略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每 session 上限 200 个 checkpoint</a:t>
            </a:r>
          </a:p>
          <a:p>
            <a:pPr>
              <a:spcBef>
                <a:spcPts val="300"/>
              </a:spcBef>
              <a:defRPr sz="1200" b="0">
                <a:solidFill>
                  <a:srgbClr val="222222"/>
                </a:solidFill>
                <a:latin typeface="Microsoft YaHei"/>
              </a:defRPr>
            </a:pPr>
            <a:r>
              <a:t>全局保留期 30 天，超期自动删除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