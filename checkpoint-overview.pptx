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Workspace Checkpoint &amp; Rollback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DD"/>
                </a:solidFill>
              </a:defRPr>
            </a:pPr>
            <a:r>
              <a:t>基于 git commit-tree 的轻量级工作区快照方案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49039" cy="2651760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核心原理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</a:defRPr>
            </a:pP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使用 git commit-tree 创建游离提交(detached commit)</a:t>
            </a:r>
          </a:p>
          <a:p>
            <a:pPr>
              <a:spcBef>
                <a:spcPts val="400"/>
              </a:spcBef>
              <a:defRPr sz="1100" b="0">
                <a:solidFill>
                  <a:srgbClr val="CCCCDD"/>
                </a:solidFill>
              </a:defRPr>
            </a:pPr>
            <a:r>
              <a:t>• 不挂载到任何分支，不影响 HEAD</a:t>
            </a:r>
          </a:p>
          <a:p>
            <a:pPr>
              <a:spcBef>
                <a:spcPts val="400"/>
              </a:spcBef>
              <a:defRPr sz="1100" b="0">
                <a:solidFill>
                  <a:srgbClr val="CCCCDD"/>
                </a:solidFill>
              </a:defRPr>
            </a:pPr>
            <a:r>
              <a:t>• 每次工具调用后自动创建快照</a:t>
            </a:r>
          </a:p>
          <a:p>
            <a:pPr>
              <a:spcBef>
                <a:spcPts val="400"/>
              </a:spcBef>
              <a:defRPr sz="1100" b="0">
                <a:solidFill>
                  <a:srgbClr val="CCCCDD"/>
                </a:solidFill>
              </a:defRPr>
            </a:pPr>
            <a:r>
              <a:t>• 通过 -p 参数串联父子链</a:t>
            </a:r>
          </a:p>
          <a:p>
            <a:pPr>
              <a:spcBef>
                <a:spcPts val="400"/>
              </a:spcBef>
              <a:defRPr sz="600" b="0">
                <a:solidFill>
                  <a:srgbClr val="CCCCDD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00E696"/>
                </a:solidFill>
              </a:defRPr>
            </a:pPr>
            <a:r>
              <a:t>双重状态追踪</a:t>
            </a:r>
          </a:p>
          <a:p>
            <a:pPr>
              <a:spcBef>
                <a:spcPts val="400"/>
              </a:spcBef>
              <a:defRPr sz="1100" b="0">
                <a:solidFill>
                  <a:srgbClr val="CCCCDD"/>
                </a:solidFill>
              </a:defRPr>
            </a:pPr>
            <a:r>
              <a:t>• 文件状态 → git tree/commit SHA</a:t>
            </a:r>
          </a:p>
          <a:p>
            <a:pPr>
              <a:spcBef>
                <a:spcPts val="400"/>
              </a:spcBef>
              <a:defRPr sz="1100" b="0">
                <a:solidFill>
                  <a:srgbClr val="CCCCDD"/>
                </a:solidFill>
              </a:defRPr>
            </a:pPr>
            <a:r>
              <a:t>• 对话历史 → JSONL 字节偏移量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931920" cy="2651760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188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创建 &amp; 回滚流程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</a:p>
          <a:p>
            <a:pPr>
              <a:spcBef>
                <a:spcPts val="200"/>
              </a:spcBef>
              <a:defRPr sz="1200" b="1">
                <a:solidFill>
                  <a:srgbClr val="00E696"/>
                </a:solidFill>
              </a:defRPr>
            </a:pPr>
            <a:r>
              <a:t>创建 Checkpoint</a:t>
            </a:r>
          </a:p>
          <a:p>
            <a:pPr>
              <a:spcBef>
                <a:spcPts val="400"/>
              </a:spcBef>
              <a:defRPr sz="1100" b="1">
                <a:solidFill>
                  <a:srgbClr val="FF9F43"/>
                </a:solidFill>
              </a:defRPr>
            </a:pPr>
            <a:r>
              <a:t>git add -A</a:t>
            </a:r>
          </a:p>
          <a:p>
            <a:pPr>
              <a:spcBef>
                <a:spcPts val="400"/>
              </a:spcBef>
              <a:defRPr sz="1000" b="0">
                <a:solidFill>
                  <a:srgbClr val="CCCCDD"/>
                </a:solidFill>
              </a:defRPr>
            </a:pPr>
            <a:r>
              <a:t>  → git write-tree          (生成 tree SHA)</a:t>
            </a:r>
          </a:p>
          <a:p>
            <a:pPr>
              <a:spcBef>
                <a:spcPts val="400"/>
              </a:spcBef>
              <a:defRPr sz="1000" b="0">
                <a:solidFill>
                  <a:srgbClr val="CCCCDD"/>
                </a:solidFill>
              </a:defRPr>
            </a:pPr>
            <a:r>
              <a:t>  → git commit-tree -p ...   (游离 commit)</a:t>
            </a:r>
          </a:p>
          <a:p>
            <a:pPr>
              <a:spcBef>
                <a:spcPts val="400"/>
              </a:spcBef>
              <a:defRPr sz="1000" b="0">
                <a:solidFill>
                  <a:srgbClr val="CCCCDD"/>
                </a:solidFill>
              </a:defRPr>
            </a:pPr>
            <a:r>
              <a:t>  → git reset               (恢复索引)</a:t>
            </a:r>
          </a:p>
          <a:p>
            <a:pPr>
              <a:spcBef>
                <a:spcPts val="400"/>
              </a:spcBef>
              <a:defRPr sz="600" b="0">
                <a:solidFill>
                  <a:srgbClr val="CCCCDD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FF9F43"/>
                </a:solidFill>
              </a:defRPr>
            </a:pPr>
            <a:r>
              <a:t>回滚 Checkpoint</a:t>
            </a:r>
          </a:p>
          <a:p>
            <a:pPr>
              <a:spcBef>
                <a:spcPts val="400"/>
              </a:spcBef>
              <a:defRPr sz="1100" b="1">
                <a:solidFill>
                  <a:srgbClr val="00E696"/>
                </a:solidFill>
              </a:defRPr>
            </a:pPr>
            <a:r>
              <a:t>git read-tree &lt;sha&gt;</a:t>
            </a:r>
          </a:p>
          <a:p>
            <a:pPr>
              <a:spcBef>
                <a:spcPts val="400"/>
              </a:spcBef>
              <a:defRPr sz="1000" b="0">
                <a:solidFill>
                  <a:srgbClr val="CCCCDD"/>
                </a:solidFill>
              </a:defRPr>
            </a:pPr>
            <a:r>
              <a:t>  → git checkout-index -a -f (恢复文件)</a:t>
            </a:r>
          </a:p>
          <a:p>
            <a:pPr>
              <a:spcBef>
                <a:spcPts val="400"/>
              </a:spcBef>
              <a:defRPr sz="1000" b="0">
                <a:solidFill>
                  <a:srgbClr val="CCCCDD"/>
                </a:solidFill>
              </a:defRPr>
            </a:pPr>
            <a:r>
              <a:t>  → git clean -fd           (清理多余文件)</a:t>
            </a:r>
          </a:p>
          <a:p>
            <a:pPr>
              <a:spcBef>
                <a:spcPts val="400"/>
              </a:spcBef>
              <a:defRPr sz="1000" b="0">
                <a:solidFill>
                  <a:srgbClr val="CCCCDD"/>
                </a:solidFill>
              </a:defRPr>
            </a:pPr>
            <a:r>
              <a:t>  → 截断 JSONL 到字节偏移    (恢复对话)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3474720" cy="2651760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关键设计决策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00E696"/>
                </a:solidFill>
              </a:defRPr>
            </a:pPr>
            <a:r>
              <a:t>▸ 零侵入</a:t>
            </a:r>
          </a:p>
          <a:p>
            <a:pPr>
              <a:spcBef>
                <a:spcPts val="100"/>
              </a:spcBef>
              <a:defRPr sz="1000" b="0">
                <a:solidFill>
                  <a:srgbClr val="CCCCDD"/>
                </a:solidFill>
              </a:defRPr>
            </a:pPr>
            <a:r>
              <a:t>  不影响分支/HEAD/工作流</a:t>
            </a:r>
          </a:p>
          <a:p>
            <a:pPr>
              <a:spcBef>
                <a:spcPts val="400"/>
              </a:spcBef>
              <a:defRPr sz="1100" b="1">
                <a:solidFill>
                  <a:srgbClr val="00E696"/>
                </a:solidFill>
              </a:defRPr>
            </a:pPr>
            <a:r>
              <a:t>▸ 可配置触发</a:t>
            </a:r>
          </a:p>
          <a:p>
            <a:pPr>
              <a:spcBef>
                <a:spcPts val="100"/>
              </a:spcBef>
              <a:defRPr sz="1000" b="0">
                <a:solidFill>
                  <a:srgbClr val="CCCCDD"/>
                </a:solidFill>
              </a:defRPr>
            </a:pPr>
            <a:r>
              <a:t>  mutating_tools | all | manual</a:t>
            </a:r>
          </a:p>
          <a:p>
            <a:pPr>
              <a:spcBef>
                <a:spcPts val="400"/>
              </a:spcBef>
              <a:defRPr sz="1100" b="1">
                <a:solidFill>
                  <a:srgbClr val="00E696"/>
                </a:solidFill>
              </a:defRPr>
            </a:pPr>
            <a:r>
              <a:t>▸ 优雅降级</a:t>
            </a:r>
          </a:p>
          <a:p>
            <a:pPr>
              <a:spcBef>
                <a:spcPts val="100"/>
              </a:spcBef>
              <a:defRPr sz="1000" b="0">
                <a:solidFill>
                  <a:srgbClr val="CCCCDD"/>
                </a:solidFill>
              </a:defRPr>
            </a:pPr>
            <a:r>
              <a:t>  checkpoint 失败不中断 agent</a:t>
            </a:r>
          </a:p>
          <a:p>
            <a:pPr>
              <a:spcBef>
                <a:spcPts val="400"/>
              </a:spcBef>
              <a:defRPr sz="1100" b="1">
                <a:solidFill>
                  <a:srgbClr val="00E696"/>
                </a:solidFill>
              </a:defRPr>
            </a:pPr>
            <a:r>
              <a:t>▸ 双重清理</a:t>
            </a:r>
          </a:p>
          <a:p>
            <a:pPr>
              <a:spcBef>
                <a:spcPts val="100"/>
              </a:spcBef>
              <a:defRPr sz="1000" b="0">
                <a:solidFill>
                  <a:srgbClr val="CCCCDD"/>
                </a:solidFill>
              </a:defRPr>
            </a:pPr>
            <a:r>
              <a:t>  每 session 200 上限 + 30 天保留</a:t>
            </a:r>
          </a:p>
          <a:p>
            <a:pPr>
              <a:spcBef>
                <a:spcPts val="400"/>
              </a:spcBef>
              <a:defRPr sz="1100" b="1">
                <a:solidFill>
                  <a:srgbClr val="00E696"/>
                </a:solidFill>
              </a:defRPr>
            </a:pPr>
            <a:r>
              <a:t>▸ 并发安全</a:t>
            </a:r>
          </a:p>
          <a:p>
            <a:pPr>
              <a:spcBef>
                <a:spcPts val="100"/>
              </a:spcBef>
              <a:defRPr sz="1000" b="0">
                <a:solidFill>
                  <a:srgbClr val="CCCCDD"/>
                </a:solidFill>
              </a:defRPr>
            </a:pPr>
            <a:r>
              <a:t>  detached commit 无锁冲突</a:t>
            </a:r>
          </a:p>
          <a:p>
            <a:pPr>
              <a:spcBef>
                <a:spcPts val="400"/>
              </a:spcBef>
              <a:defRPr sz="1100" b="1">
                <a:solidFill>
                  <a:srgbClr val="00E696"/>
                </a:solidFill>
              </a:defRPr>
            </a:pPr>
            <a:r>
              <a:t>▸ 轻量存储</a:t>
            </a:r>
          </a:p>
          <a:p>
            <a:pPr>
              <a:spcBef>
                <a:spcPts val="100"/>
              </a:spcBef>
              <a:defRPr sz="1000" b="0">
                <a:solidFill>
                  <a:srgbClr val="CCCCDD"/>
                </a:solidFill>
              </a:defRPr>
            </a:pPr>
            <a:r>
              <a:t>  仅 git 对象，几 KB/快照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11521440" cy="2606040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模块架构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526280"/>
            <a:ext cx="1463040" cy="1554480"/>
          </a:xfrm>
          <a:prstGeom prst="rect">
            <a:avLst/>
          </a:prstGeom>
          <a:solidFill>
            <a:srgbClr val="2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617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37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9F43"/>
                </a:solidFill>
              </a:defRPr>
            </a:pPr>
            <a:r>
              <a:t>checkpoint-engine.ts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03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</a:defRPr>
            </a:pPr>
            <a:r>
              <a:t>创建/恢复/裁剪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4526280"/>
            <a:ext cx="1463040" cy="1554480"/>
          </a:xfrm>
          <a:prstGeom prst="rect">
            <a:avLst/>
          </a:prstGeom>
          <a:solidFill>
            <a:srgbClr val="2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4617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Git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937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9F43"/>
                </a:solidFill>
              </a:defRPr>
            </a:pPr>
            <a:r>
              <a:t>git-backend.ts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03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</a:defRPr>
            </a:pPr>
            <a:r>
              <a:t>commit-tree 操作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4526280"/>
            <a:ext cx="1463040" cy="1554480"/>
          </a:xfrm>
          <a:prstGeom prst="rect">
            <a:avLst/>
          </a:prstGeom>
          <a:solidFill>
            <a:srgbClr val="2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4617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937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9F43"/>
                </a:solidFill>
              </a:defRPr>
            </a:pPr>
            <a:r>
              <a:t>store.ts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5303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</a:defRPr>
            </a:pPr>
            <a:r>
              <a:t>元数据持久化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4526280"/>
            <a:ext cx="1463040" cy="1554480"/>
          </a:xfrm>
          <a:prstGeom prst="rect">
            <a:avLst/>
          </a:prstGeom>
          <a:solidFill>
            <a:srgbClr val="2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617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Hooks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4937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9F43"/>
                </a:solidFill>
              </a:defRPr>
            </a:pPr>
            <a:r>
              <a:t>hooks.ts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303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</a:defRPr>
            </a:pPr>
            <a:r>
              <a:t>自动触发集成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4526280"/>
            <a:ext cx="1463040" cy="1554480"/>
          </a:xfrm>
          <a:prstGeom prst="rect">
            <a:avLst/>
          </a:prstGeom>
          <a:solidFill>
            <a:srgbClr val="2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4617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HTTP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937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9F43"/>
                </a:solidFill>
              </a:defRPr>
            </a:pPr>
            <a:r>
              <a:t>http.ts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5303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</a:defRPr>
            </a:pPr>
            <a:r>
              <a:t>REST 端点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4526280"/>
            <a:ext cx="1463040" cy="1554480"/>
          </a:xfrm>
          <a:prstGeom prst="rect">
            <a:avLst/>
          </a:prstGeom>
          <a:solidFill>
            <a:srgbClr val="2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4617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Tool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937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9F43"/>
                </a:solidFill>
              </a:defRPr>
            </a:pPr>
            <a:r>
              <a:t>tool.ts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5303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</a:defRPr>
            </a:pPr>
            <a:r>
              <a:t>Agent 工具接口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4526280"/>
            <a:ext cx="1463040" cy="1554480"/>
          </a:xfrm>
          <a:prstGeom prst="rect">
            <a:avLst/>
          </a:prstGeom>
          <a:solidFill>
            <a:srgbClr val="2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5560" y="4617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Viewer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60" y="4937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9F43"/>
                </a:solidFill>
              </a:defRPr>
            </a:pPr>
            <a:r>
              <a:t>viewer/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5303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</a:defRPr>
            </a:pPr>
            <a:r>
              <a:t>时间线可视化</a:t>
            </a:r>
          </a:p>
        </p:txBody>
      </p:sp>
      <p:sp>
        <p:nvSpPr>
          <p:cNvPr id="44" name="Can 43"/>
          <p:cNvSpPr/>
          <p:nvPr/>
        </p:nvSpPr>
        <p:spPr>
          <a:xfrm>
            <a:off x="1920240" y="5166360"/>
            <a:ext cx="228600" cy="228600"/>
          </a:xfrm>
          <a:prstGeom prst="can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an 44"/>
          <p:cNvSpPr/>
          <p:nvPr/>
        </p:nvSpPr>
        <p:spPr>
          <a:xfrm>
            <a:off x="3520440" y="5166360"/>
            <a:ext cx="228600" cy="228600"/>
          </a:xfrm>
          <a:prstGeom prst="can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an 45"/>
          <p:cNvSpPr/>
          <p:nvPr/>
        </p:nvSpPr>
        <p:spPr>
          <a:xfrm>
            <a:off x="5120640" y="5166360"/>
            <a:ext cx="228600" cy="228600"/>
          </a:xfrm>
          <a:prstGeom prst="can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an 46"/>
          <p:cNvSpPr/>
          <p:nvPr/>
        </p:nvSpPr>
        <p:spPr>
          <a:xfrm>
            <a:off x="6720840" y="5166360"/>
            <a:ext cx="228600" cy="228600"/>
          </a:xfrm>
          <a:prstGeom prst="can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an 47"/>
          <p:cNvSpPr/>
          <p:nvPr/>
        </p:nvSpPr>
        <p:spPr>
          <a:xfrm>
            <a:off x="8321040" y="5166360"/>
            <a:ext cx="228600" cy="228600"/>
          </a:xfrm>
          <a:prstGeom prst="can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an 48"/>
          <p:cNvSpPr/>
          <p:nvPr/>
        </p:nvSpPr>
        <p:spPr>
          <a:xfrm>
            <a:off x="9921240" y="5166360"/>
            <a:ext cx="228600" cy="228600"/>
          </a:xfrm>
          <a:prstGeom prst="can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存储结构:  &lt;storagePath&gt;/&lt;agentId&gt;/&lt;sessionId&gt;/manifest.json + &lt;checkpointId&gt;/meta.json          触发模式:  after_tool_call | session_start | manual          排除工具:  read, glob, grep, memory_search, memory_get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